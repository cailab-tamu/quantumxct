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22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20457-6406-5A2F-66CB-44E29C262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C90349-4DDF-AE94-339B-995048096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86075-4CD2-6BF4-28C5-10D9436B3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240-8287-4EFA-902C-E83DD270AC4C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A7A08-9BA7-3052-227B-AA85AB821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26F28-8EB6-CFB3-0296-31FAD4EB6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8EDB0-F400-4EA5-B939-F5B4F23ED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20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D6EF-C7DA-3F16-E3A8-EA38120A4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66FF6-57C1-BFF3-85A8-0BA559E4D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1D3BD-386D-E8C2-E921-C4DA5ADDB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240-8287-4EFA-902C-E83DD270AC4C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7A317-61EC-8265-DEEB-CF95681F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DFF0E-84EB-D912-5E99-3C3A9327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8EDB0-F400-4EA5-B939-F5B4F23ED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29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CC6BF-58A7-8C87-4E06-B590123BA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D1131-C329-0BFA-F75B-391BD8282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4DD6D-C2E3-E2CF-4F0F-9423A1EA6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240-8287-4EFA-902C-E83DD270AC4C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7171A-DB11-2934-0897-C78065ED0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7DF68-93C0-FA73-DA7E-8EF79B4F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8EDB0-F400-4EA5-B939-F5B4F23ED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90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D9C33-3E21-1237-0A22-EB4420B1F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431E8-B094-1263-AFAF-01BFF99EBF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049CD-79D6-18EE-1EFE-3BCC9CE5F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72F00-A8E0-6A73-504C-732913D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240-8287-4EFA-902C-E83DD270AC4C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03E94-1B8F-CE84-284B-A584A5AD6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996CA-1BC2-AC3B-EE5F-7A0408F41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8EDB0-F400-4EA5-B939-F5B4F23ED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482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A1BF4-DC2D-4B55-B424-17CEA25E0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A5523-D9E2-8457-E5A5-0CEC5FF96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D67B1-82FF-D175-7EA6-BC3A39462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065887-DC44-1054-3305-A1090807D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3EDB1-08AD-2C2F-79E0-104B5E255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84D32-A7F7-29CD-128E-0A0A9FA60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240-8287-4EFA-902C-E83DD270AC4C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F65735-C26C-83E8-3B92-7013EF82A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71DEDA-B071-56C9-8640-45B8B0761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8EDB0-F400-4EA5-B939-F5B4F23ED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8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FEE6B-A7B0-8939-BD04-B1398C01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2A43E8-FEFB-918F-AF44-1EBB707AA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240-8287-4EFA-902C-E83DD270AC4C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7B491-84E3-50BD-11B6-433459442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B9F4A-A80B-7467-B663-744D6B47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8EDB0-F400-4EA5-B939-F5B4F23ED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94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3EE96A-C51A-6902-2AC0-1DB4C8454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240-8287-4EFA-902C-E83DD270AC4C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AD46F-50A3-B8D0-FA18-A1AC37928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EDE1A-266F-7942-B3DD-7E50E9DB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8EDB0-F400-4EA5-B939-F5B4F23ED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42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2DB7D-4E67-82C4-C325-2033AAA34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C0C45-120D-8E73-F815-F9A568ECB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83324C-9501-35D4-6C43-26D22BFF9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090B9-783C-DF57-73AF-FA63945F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240-8287-4EFA-902C-E83DD270AC4C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7296B-9DC1-5EE3-7B21-7DA6674DD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3C35A-AB1E-68F2-44A6-7B2D865D3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8EDB0-F400-4EA5-B939-F5B4F23ED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91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463D-7B7E-D463-DC0D-1FC9E31E6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66A365-964D-88BC-5432-1D3AC588C6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68742C-2D4F-8150-D2E9-25DB89EA9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6EDDE-64C6-D51B-FCC0-57F2E10E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240-8287-4EFA-902C-E83DD270AC4C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36F7D-A25B-D5C1-70F2-FBF6D47C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AB63-8567-04ED-031A-9AB7BE89B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8EDB0-F400-4EA5-B939-F5B4F23ED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162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943AC-D8AD-7592-040C-DF5EF96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36436-68BF-B1A7-932C-1F17E8EFC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77D45-B6A3-DB11-4E0B-7698B8E38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240-8287-4EFA-902C-E83DD270AC4C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9A516-A0CD-7050-4939-1BCA7D9F6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7290C-F573-4747-4323-885C20E3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8EDB0-F400-4EA5-B939-F5B4F23ED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22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E809C5-8FD4-B4AB-8871-40FB994923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CA7C4-789B-7BE1-F5D0-789C5AF9C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605CB-8409-F5FA-A4F8-5F9D0BB9A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7240-8287-4EFA-902C-E83DD270AC4C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67F80-3017-5D60-0609-D23DA29F2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D0121-94EF-D4CC-A8D5-D34A7D97B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8EDB0-F400-4EA5-B939-F5B4F23ED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4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736555-8D4F-0B7E-47E9-8DD1A26E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67177-F7B4-A8BF-430C-4CCED3C5B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A72F9-7401-8BD5-382F-EB978AFC9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97240-8287-4EFA-902C-E83DD270AC4C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0503D-03F0-C84A-9F85-D4524A2C2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EE7A9-7505-EFCF-D831-B5E7ED7DF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8EDB0-F400-4EA5-B939-F5B4F23ED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87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crophage | Definition, Function &amp; Types Video">
            <a:extLst>
              <a:ext uri="{FF2B5EF4-FFF2-40B4-BE49-F238E27FC236}">
                <a16:creationId xmlns:a16="http://schemas.microsoft.com/office/drawing/2014/main" id="{7C694022-BDF4-9145-35F0-0CCC976D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2" t="14063" r="26417" b="13499"/>
          <a:stretch/>
        </p:blipFill>
        <p:spPr bwMode="auto">
          <a:xfrm>
            <a:off x="7784837" y="1896684"/>
            <a:ext cx="2743200" cy="2388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C1E285-EC4E-09DF-4675-A6E7753A1DB3}"/>
              </a:ext>
            </a:extLst>
          </p:cNvPr>
          <p:cNvGrpSpPr/>
          <p:nvPr/>
        </p:nvGrpSpPr>
        <p:grpSpPr>
          <a:xfrm>
            <a:off x="1316535" y="1673463"/>
            <a:ext cx="2957600" cy="3245944"/>
            <a:chOff x="1316535" y="1660083"/>
            <a:chExt cx="2957600" cy="3245944"/>
          </a:xfrm>
        </p:grpSpPr>
        <p:pic>
          <p:nvPicPr>
            <p:cNvPr id="1028" name="Picture 4" descr="Structure of the alveolus">
              <a:extLst>
                <a:ext uri="{FF2B5EF4-FFF2-40B4-BE49-F238E27FC236}">
                  <a16:creationId xmlns:a16="http://schemas.microsoft.com/office/drawing/2014/main" id="{21CC584A-AB26-AE96-25C3-13B71BD8AA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24" t="32403" r="44423" b="6626"/>
            <a:stretch/>
          </p:blipFill>
          <p:spPr bwMode="auto">
            <a:xfrm>
              <a:off x="1362129" y="1660083"/>
              <a:ext cx="2866413" cy="3119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23791ED-F362-0CDA-0E1B-18D8804E1422}"/>
                </a:ext>
              </a:extLst>
            </p:cNvPr>
            <p:cNvSpPr/>
            <p:nvPr/>
          </p:nvSpPr>
          <p:spPr>
            <a:xfrm>
              <a:off x="2630661" y="1660083"/>
              <a:ext cx="1597881" cy="6950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E231C9-4C43-7C4A-0CB5-AE9D54BF49CF}"/>
                </a:ext>
              </a:extLst>
            </p:cNvPr>
            <p:cNvSpPr/>
            <p:nvPr/>
          </p:nvSpPr>
          <p:spPr>
            <a:xfrm>
              <a:off x="1316536" y="4370250"/>
              <a:ext cx="1114430" cy="535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9FEAF7-B675-E983-2600-2F30911A00F9}"/>
                </a:ext>
              </a:extLst>
            </p:cNvPr>
            <p:cNvSpPr/>
            <p:nvPr/>
          </p:nvSpPr>
          <p:spPr>
            <a:xfrm>
              <a:off x="3123613" y="2404203"/>
              <a:ext cx="1150522" cy="7441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C3D124A-BAED-80D9-6134-73136562AE61}"/>
                </a:ext>
              </a:extLst>
            </p:cNvPr>
            <p:cNvSpPr/>
            <p:nvPr/>
          </p:nvSpPr>
          <p:spPr>
            <a:xfrm>
              <a:off x="1316535" y="1660083"/>
              <a:ext cx="685195" cy="3605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BCC1583-1816-4DA3-5DD6-F12EF147E2F5}"/>
              </a:ext>
            </a:extLst>
          </p:cNvPr>
          <p:cNvSpPr txBox="1"/>
          <p:nvPr/>
        </p:nvSpPr>
        <p:spPr>
          <a:xfrm>
            <a:off x="3132150" y="1620880"/>
            <a:ext cx="1911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GM-CSF (CSF2)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F7AF6E-FC56-0379-E9BA-4EF9EFDED90A}"/>
              </a:ext>
            </a:extLst>
          </p:cNvPr>
          <p:cNvSpPr txBox="1"/>
          <p:nvPr/>
        </p:nvSpPr>
        <p:spPr>
          <a:xfrm>
            <a:off x="6610940" y="2090999"/>
            <a:ext cx="934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CSF2R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42FCC0AA-CA28-F83C-3855-D910B135877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5043251" y="1820935"/>
            <a:ext cx="1567689" cy="470119"/>
          </a:xfrm>
          <a:prstGeom prst="bentConnector3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42185A9-CAD4-94F5-2F32-4DA146439943}"/>
              </a:ext>
            </a:extLst>
          </p:cNvPr>
          <p:cNvSpPr txBox="1"/>
          <p:nvPr/>
        </p:nvSpPr>
        <p:spPr>
          <a:xfrm>
            <a:off x="6783955" y="2643042"/>
            <a:ext cx="933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VEGFA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46E555-D331-4EDD-F713-CFFC4417E85C}"/>
              </a:ext>
            </a:extLst>
          </p:cNvPr>
          <p:cNvSpPr txBox="1"/>
          <p:nvPr/>
        </p:nvSpPr>
        <p:spPr>
          <a:xfrm>
            <a:off x="3439901" y="2419309"/>
            <a:ext cx="17643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VEGFR2 (KDR)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9B385DC-8C20-E0E9-FCAD-3AC8F89ACFC0}"/>
              </a:ext>
            </a:extLst>
          </p:cNvPr>
          <p:cNvCxnSpPr>
            <a:cxnSpLocks/>
            <a:stCxn id="14" idx="1"/>
            <a:endCxn id="15" idx="3"/>
          </p:cNvCxnSpPr>
          <p:nvPr/>
        </p:nvCxnSpPr>
        <p:spPr>
          <a:xfrm rot="10800000">
            <a:off x="5204231" y="2619365"/>
            <a:ext cx="1579725" cy="223733"/>
          </a:xfrm>
          <a:prstGeom prst="bentConnector3">
            <a:avLst>
              <a:gd name="adj1" fmla="val 50000"/>
            </a:avLst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1B46A6F-601D-FD50-38E3-2559CFC95707}"/>
              </a:ext>
            </a:extLst>
          </p:cNvPr>
          <p:cNvSpPr txBox="1"/>
          <p:nvPr/>
        </p:nvSpPr>
        <p:spPr>
          <a:xfrm>
            <a:off x="6854740" y="3292453"/>
            <a:ext cx="908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TGFB1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D4B123-70C3-A93C-CC04-7A0776618EB3}"/>
              </a:ext>
            </a:extLst>
          </p:cNvPr>
          <p:cNvSpPr txBox="1"/>
          <p:nvPr/>
        </p:nvSpPr>
        <p:spPr>
          <a:xfrm>
            <a:off x="3812434" y="3068721"/>
            <a:ext cx="12869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TGFBR1/2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CD6EEBC7-2940-F5FD-95BB-F1E9C03699F4}"/>
              </a:ext>
            </a:extLst>
          </p:cNvPr>
          <p:cNvCxnSpPr>
            <a:cxnSpLocks/>
            <a:stCxn id="22" idx="1"/>
            <a:endCxn id="23" idx="3"/>
          </p:cNvCxnSpPr>
          <p:nvPr/>
        </p:nvCxnSpPr>
        <p:spPr>
          <a:xfrm rot="10800000">
            <a:off x="5099390" y="3268776"/>
            <a:ext cx="1755351" cy="223732"/>
          </a:xfrm>
          <a:prstGeom prst="bentConnector3">
            <a:avLst>
              <a:gd name="adj1" fmla="val 50000"/>
            </a:avLst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70ECA1C-C010-500E-FED0-C5F3C9656E62}"/>
              </a:ext>
            </a:extLst>
          </p:cNvPr>
          <p:cNvSpPr txBox="1"/>
          <p:nvPr/>
        </p:nvSpPr>
        <p:spPr>
          <a:xfrm>
            <a:off x="4228542" y="4183575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CD274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22EF5F-64FF-C41B-6022-ABF79BC64553}"/>
              </a:ext>
            </a:extLst>
          </p:cNvPr>
          <p:cNvSpPr txBox="1"/>
          <p:nvPr/>
        </p:nvSpPr>
        <p:spPr>
          <a:xfrm>
            <a:off x="6782673" y="3820818"/>
            <a:ext cx="9989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PDCD1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C6CFC13-8AC8-3E0C-0ED4-342F82D87D1D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 flipV="1">
            <a:off x="5176237" y="4020873"/>
            <a:ext cx="1606436" cy="362757"/>
          </a:xfrm>
          <a:prstGeom prst="bentConnector3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DA8A03A-DE68-863F-3418-B218AB1661E3}"/>
              </a:ext>
            </a:extLst>
          </p:cNvPr>
          <p:cNvSpPr txBox="1"/>
          <p:nvPr/>
        </p:nvSpPr>
        <p:spPr>
          <a:xfrm>
            <a:off x="7963460" y="4392768"/>
            <a:ext cx="9492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MERTK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E94213-93C3-F952-4557-3F4F230B8529}"/>
              </a:ext>
            </a:extLst>
          </p:cNvPr>
          <p:cNvSpPr txBox="1"/>
          <p:nvPr/>
        </p:nvSpPr>
        <p:spPr>
          <a:xfrm>
            <a:off x="2682347" y="4848813"/>
            <a:ext cx="7944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GAS6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2F28AA69-2253-618F-3FBD-51181E6AFB22}"/>
              </a:ext>
            </a:extLst>
          </p:cNvPr>
          <p:cNvCxnSpPr>
            <a:cxnSpLocks/>
            <a:stCxn id="31" idx="1"/>
            <a:endCxn id="32" idx="3"/>
          </p:cNvCxnSpPr>
          <p:nvPr/>
        </p:nvCxnSpPr>
        <p:spPr>
          <a:xfrm rot="10800000" flipV="1">
            <a:off x="3476796" y="4592822"/>
            <a:ext cx="4486665" cy="456045"/>
          </a:xfrm>
          <a:prstGeom prst="bentConnector3">
            <a:avLst>
              <a:gd name="adj1" fmla="val 50000"/>
            </a:avLst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3CC7D4D-ED08-F894-399B-D5A5B3A4A22B}"/>
              </a:ext>
            </a:extLst>
          </p:cNvPr>
          <p:cNvSpPr txBox="1"/>
          <p:nvPr/>
        </p:nvSpPr>
        <p:spPr>
          <a:xfrm>
            <a:off x="9190838" y="4558623"/>
            <a:ext cx="652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IL10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DAAB26-219F-7242-D459-70D9F63A9EE7}"/>
              </a:ext>
            </a:extLst>
          </p:cNvPr>
          <p:cNvSpPr txBox="1"/>
          <p:nvPr/>
        </p:nvSpPr>
        <p:spPr>
          <a:xfrm>
            <a:off x="3189352" y="5297483"/>
            <a:ext cx="808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IL10R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902C5039-5F68-4A7D-5A8B-8799B2C43000}"/>
              </a:ext>
            </a:extLst>
          </p:cNvPr>
          <p:cNvCxnSpPr>
            <a:cxnSpLocks/>
            <a:stCxn id="35" idx="2"/>
            <a:endCxn id="36" idx="3"/>
          </p:cNvCxnSpPr>
          <p:nvPr/>
        </p:nvCxnSpPr>
        <p:spPr>
          <a:xfrm rot="5400000">
            <a:off x="6487997" y="2468324"/>
            <a:ext cx="538805" cy="5519623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32B455E-9537-AEBE-7853-EDC3E5A721AD}"/>
              </a:ext>
            </a:extLst>
          </p:cNvPr>
          <p:cNvSpPr txBox="1"/>
          <p:nvPr/>
        </p:nvSpPr>
        <p:spPr>
          <a:xfrm>
            <a:off x="8435158" y="1242668"/>
            <a:ext cx="1829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ABCA1/ABCG1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BB7B3E-4AC7-6BB2-4B87-89F44F57ED2F}"/>
              </a:ext>
            </a:extLst>
          </p:cNvPr>
          <p:cNvSpPr txBox="1"/>
          <p:nvPr/>
        </p:nvSpPr>
        <p:spPr>
          <a:xfrm>
            <a:off x="2002182" y="1126720"/>
            <a:ext cx="1988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SR-B1 (SCARB1)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005AC8C0-F06C-8E68-BC8C-83CFF5325BCE}"/>
              </a:ext>
            </a:extLst>
          </p:cNvPr>
          <p:cNvCxnSpPr>
            <a:cxnSpLocks/>
            <a:stCxn id="43" idx="1"/>
            <a:endCxn id="44" idx="3"/>
          </p:cNvCxnSpPr>
          <p:nvPr/>
        </p:nvCxnSpPr>
        <p:spPr>
          <a:xfrm rot="10800000">
            <a:off x="3990356" y="1326775"/>
            <a:ext cx="4444803" cy="115948"/>
          </a:xfrm>
          <a:prstGeom prst="bentConnector3">
            <a:avLst>
              <a:gd name="adj1" fmla="val 50000"/>
            </a:avLst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FEF0C74-D57C-EA01-ACC6-E4BDDF5C5034}"/>
              </a:ext>
            </a:extLst>
          </p:cNvPr>
          <p:cNvSpPr txBox="1"/>
          <p:nvPr/>
        </p:nvSpPr>
        <p:spPr>
          <a:xfrm>
            <a:off x="1966385" y="632560"/>
            <a:ext cx="1717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SP-D (SFTPD)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FC7473E-4D3F-2003-936D-255DBC9CE7B9}"/>
              </a:ext>
            </a:extLst>
          </p:cNvPr>
          <p:cNvSpPr txBox="1"/>
          <p:nvPr/>
        </p:nvSpPr>
        <p:spPr>
          <a:xfrm>
            <a:off x="8377926" y="853423"/>
            <a:ext cx="15824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CD91 (LRP1)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31C38BE-436C-1E85-88B0-1458E314198F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3683971" y="832615"/>
            <a:ext cx="4693955" cy="220863"/>
          </a:xfrm>
          <a:prstGeom prst="bentConnector3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EF5A3CB-7197-3D3C-A24B-6EB316FCABC1}"/>
              </a:ext>
            </a:extLst>
          </p:cNvPr>
          <p:cNvSpPr txBox="1"/>
          <p:nvPr/>
        </p:nvSpPr>
        <p:spPr>
          <a:xfrm>
            <a:off x="9975314" y="4282186"/>
            <a:ext cx="1723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Macrophages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EB78644-1A26-FFF0-091D-A5DC43EB99F9}"/>
              </a:ext>
            </a:extLst>
          </p:cNvPr>
          <p:cNvSpPr txBox="1"/>
          <p:nvPr/>
        </p:nvSpPr>
        <p:spPr>
          <a:xfrm>
            <a:off x="344445" y="4260519"/>
            <a:ext cx="22420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Alveolar epithelial cells (AECs)</a:t>
            </a:r>
          </a:p>
        </p:txBody>
      </p:sp>
    </p:spTree>
    <p:extLst>
      <p:ext uri="{BB962C8B-B14F-4D97-AF65-F5344CB8AC3E}">
        <p14:creationId xmlns:p14="http://schemas.microsoft.com/office/powerpoint/2010/main" val="2057413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40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Cai, James</dc:creator>
  <cp:lastModifiedBy>Cai, James</cp:lastModifiedBy>
  <cp:revision>2</cp:revision>
  <dcterms:created xsi:type="dcterms:W3CDTF">2025-02-19T19:39:04Z</dcterms:created>
  <dcterms:modified xsi:type="dcterms:W3CDTF">2025-02-19T19:57:19Z</dcterms:modified>
</cp:coreProperties>
</file>